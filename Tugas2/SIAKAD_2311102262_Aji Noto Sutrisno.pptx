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02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2D673-469A-4EAF-0D87-F0FC7F73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CF1D1-156B-9896-5506-6012E3C3A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DADA6-0087-4E0C-FAA7-F08CE85D9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C6538-74D7-200A-5351-323E78DAC8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58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640080"/>
            <a:ext cx="3200400" cy="3200400"/>
          </a:xfrm>
          <a:prstGeom prst="ellipse">
            <a:avLst/>
          </a:prstGeom>
          <a:solidFill>
            <a:srgbClr val="818C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2377440" cy="320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TUGAS PRAKTIKUM WEB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SIAKAD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Informasi Akademik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Aplikasi CRUD Mahasiswa berbasis Node.js + Express dengan penyimpanan 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Node.js  ·  Express  ·  Bootstrap 5  ·  jQuery  ·  DataTables  ·  JSON Storage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66122D-8E9F-31EE-EC3F-F866D968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00E3BB-2925-254E-B063-E220EDA85D1A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9D56901-49B3-AE76-A409-35E15742B2BA}"/>
              </a:ext>
            </a:extLst>
          </p:cNvPr>
          <p:cNvSpPr/>
          <p:nvPr/>
        </p:nvSpPr>
        <p:spPr>
          <a:xfrm>
            <a:off x="-1166446" y="1935480"/>
            <a:ext cx="4114800" cy="41148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F3A1D8A-82B1-8894-1A30-DDCCFEBD9704}"/>
              </a:ext>
            </a:extLst>
          </p:cNvPr>
          <p:cNvSpPr/>
          <p:nvPr/>
        </p:nvSpPr>
        <p:spPr>
          <a:xfrm>
            <a:off x="-709246" y="2392680"/>
            <a:ext cx="3200400" cy="3200400"/>
          </a:xfrm>
          <a:prstGeom prst="ellipse">
            <a:avLst/>
          </a:prstGeom>
          <a:solidFill>
            <a:srgbClr val="818CF8">
              <a:alpha val="15000"/>
            </a:srgbClr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C36C04-7A7D-BD77-2F5E-57A76DA748BA}"/>
              </a:ext>
            </a:extLst>
          </p:cNvPr>
          <p:cNvSpPr/>
          <p:nvPr/>
        </p:nvSpPr>
        <p:spPr>
          <a:xfrm>
            <a:off x="5071990" y="757897"/>
            <a:ext cx="2377440" cy="320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BE42B89-B0C3-9FEF-9FEA-46657C15C7ED}"/>
              </a:ext>
            </a:extLst>
          </p:cNvPr>
          <p:cNvSpPr/>
          <p:nvPr/>
        </p:nvSpPr>
        <p:spPr>
          <a:xfrm>
            <a:off x="5114779" y="751449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F172A"/>
                </a:solidFill>
              </a:rPr>
              <a:t>Perkenalan</a:t>
            </a:r>
            <a:r>
              <a:rPr lang="en-US" sz="900" b="1" dirty="0">
                <a:solidFill>
                  <a:srgbClr val="0F172A"/>
                </a:solidFill>
              </a:rPr>
              <a:t> Diri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0C802A-EF73-FC1E-854B-23AF118A434E}"/>
              </a:ext>
            </a:extLst>
          </p:cNvPr>
          <p:cNvSpPr/>
          <p:nvPr/>
        </p:nvSpPr>
        <p:spPr>
          <a:xfrm>
            <a:off x="2159977" y="1447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Aji Noto Sutrisno</a:t>
            </a:r>
            <a:endParaRPr lang="en-US" sz="7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C6B57B-942C-F839-AD78-96F0309C81DA}"/>
              </a:ext>
            </a:extLst>
          </p:cNvPr>
          <p:cNvSpPr/>
          <p:nvPr/>
        </p:nvSpPr>
        <p:spPr>
          <a:xfrm>
            <a:off x="1332973" y="2366889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2311102262</a:t>
            </a:r>
            <a:endParaRPr lang="en-US" sz="2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70505E0-80D9-12F2-6F6C-F8A8D1C02572}"/>
              </a:ext>
            </a:extLst>
          </p:cNvPr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8DFB411-C32B-4097-C539-BCA5AA5329CA}"/>
              </a:ext>
            </a:extLst>
          </p:cNvPr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Node.js  ·  Express  ·  Bootstrap 5  ·  jQuery  ·  DataTables  ·  JSON Storage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42834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Tentang Proyek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Slide 2 /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Apa itu SIAKAD?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SIAKAD adalah aplikasi web </a:t>
            </a:r>
            <a:r>
              <a:rPr lang="en-US" sz="1300" b="1" dirty="0">
                <a:solidFill>
                  <a:srgbClr val="38BDF8"/>
                </a:solidFill>
              </a:rPr>
              <a:t>CRUD (Create, Read, Update, Delete)</a:t>
            </a:r>
            <a:r>
              <a:rPr lang="en-US" sz="1300" dirty="0">
                <a:solidFill>
                  <a:srgbClr val="FFFFFF"/>
                </a:solidFill>
              </a:rPr>
              <a:t> untuk mengelola data akademik mahasiswa secara efisien.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Data disimpan dalam file </a:t>
            </a:r>
            <a:r>
              <a:rPr lang="en-US" sz="1300" b="1" dirty="0">
                <a:solidFill>
                  <a:srgbClr val="34D399"/>
                </a:solidFill>
              </a:rPr>
              <a:t>JSON lokal</a:t>
            </a:r>
            <a:r>
              <a:rPr lang="en-US" sz="1300" dirty="0">
                <a:solidFill>
                  <a:srgbClr val="FFFFFF"/>
                </a:solidFill>
              </a:rPr>
              <a:t> tanpa memerlukan database eksternal.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1097280"/>
            <a:ext cx="17373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0" y="1097280"/>
            <a:ext cx="54864" cy="8229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10972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97880" y="1097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Tambah data mahasiswa baru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78040" y="1097280"/>
            <a:ext cx="17373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78040" y="1097280"/>
            <a:ext cx="54864" cy="8229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0972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0" y="1097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Tampilkan &amp; cari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2103120"/>
            <a:ext cx="17373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0" y="2103120"/>
            <a:ext cx="54864" cy="8229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2103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97880" y="21031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Edit data yang ada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2103120"/>
            <a:ext cx="173736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78040" y="2103120"/>
            <a:ext cx="54864" cy="8229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103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818120" y="2089404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Hapus data mahasiswa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18CF8"/>
                </a:solidFill>
              </a:rPr>
              <a:t>Tech Stack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1508760" cy="384048"/>
          </a:xfrm>
          <a:prstGeom prst="rect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5661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Node.js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48840" y="3566160"/>
            <a:ext cx="1508760" cy="384048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148840" y="35661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Express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0" y="3566160"/>
            <a:ext cx="1508760" cy="384048"/>
          </a:xfrm>
          <a:prstGeom prst="rect">
            <a:avLst/>
          </a:prstGeom>
          <a:solidFill>
            <a:srgbClr val="818CF8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0" y="35661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18CF8"/>
                </a:solidFill>
              </a:rPr>
              <a:t>Bootstrap 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32120" y="3566160"/>
            <a:ext cx="1508760" cy="384048"/>
          </a:xfrm>
          <a:prstGeom prst="rect">
            <a:avLst/>
          </a:prstGeom>
          <a:solidFill>
            <a:srgbClr val="FB923C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532120" y="35661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923C"/>
                </a:solidFill>
              </a:rPr>
              <a:t>jQuery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23760" y="3566160"/>
            <a:ext cx="1508760" cy="384048"/>
          </a:xfrm>
          <a:prstGeom prst="rect">
            <a:avLst/>
          </a:prstGeom>
          <a:solidFill>
            <a:srgbClr val="F472B6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35661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</a:rPr>
              <a:t>DataTables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SIAKAD — Sistem Informasi Akademik</a:t>
            </a:r>
            <a:endParaRPr lang="en-US" sz="10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B9CCCF40-0884-CAE7-0182-112B0E63BB0D}"/>
              </a:ext>
            </a:extLst>
          </p:cNvPr>
          <p:cNvSpPr/>
          <p:nvPr/>
        </p:nvSpPr>
        <p:spPr>
          <a:xfrm>
            <a:off x="5451582" y="1316736"/>
            <a:ext cx="1691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Engravers MT" panose="02090707080505020304" pitchFamily="18" charset="0"/>
              </a:rPr>
              <a:t>C</a:t>
            </a:r>
            <a:endParaRPr lang="en-US" sz="3200" dirty="0">
              <a:latin typeface="Engravers MT" panose="02090707080505020304" pitchFamily="18" charset="0"/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001C5E59-8798-9D52-6788-EBCB3DE5E102}"/>
              </a:ext>
            </a:extLst>
          </p:cNvPr>
          <p:cNvSpPr/>
          <p:nvPr/>
        </p:nvSpPr>
        <p:spPr>
          <a:xfrm>
            <a:off x="7315200" y="1307592"/>
            <a:ext cx="1691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Engravers MT" panose="02090707080505020304" pitchFamily="18" charset="0"/>
              </a:rPr>
              <a:t>R</a:t>
            </a:r>
            <a:endParaRPr lang="en-US" sz="3200" dirty="0">
              <a:latin typeface="Engravers MT" panose="02090707080505020304" pitchFamily="18" charset="0"/>
            </a:endParaRP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CE0CFBF6-B749-3F91-ABD6-FB4130A58088}"/>
              </a:ext>
            </a:extLst>
          </p:cNvPr>
          <p:cNvSpPr/>
          <p:nvPr/>
        </p:nvSpPr>
        <p:spPr>
          <a:xfrm>
            <a:off x="5447538" y="2290572"/>
            <a:ext cx="1691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Engravers MT" panose="02090707080505020304" pitchFamily="18" charset="0"/>
              </a:rPr>
              <a:t>U</a:t>
            </a:r>
            <a:endParaRPr lang="en-US" sz="3200" dirty="0">
              <a:latin typeface="Engravers MT" panose="02090707080505020304" pitchFamily="18" charset="0"/>
            </a:endParaRPr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F12DDD8D-C8F3-B2A5-00F9-AE9F41FC7ACD}"/>
              </a:ext>
            </a:extLst>
          </p:cNvPr>
          <p:cNvSpPr/>
          <p:nvPr/>
        </p:nvSpPr>
        <p:spPr>
          <a:xfrm>
            <a:off x="7333957" y="2331720"/>
            <a:ext cx="1691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Engravers MT" panose="02090707080505020304" pitchFamily="18" charset="0"/>
              </a:rPr>
              <a:t>D</a:t>
            </a:r>
            <a:endParaRPr lang="en-US" sz="3200" dirty="0">
              <a:latin typeface="Engravers MT" panose="020907070805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Struktur Proyek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Slide 3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38404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 akademik-app/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server.js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55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package.json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185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4505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mahasiswaRoutes.js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715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controllers/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980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mahasiswaController.js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511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mahasiswaModel.js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776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data/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mahasiswa.json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05840"/>
            <a:ext cx="411480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public/ &amp; views/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389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public/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1655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js/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1920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components/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2185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navbar.js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24505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pages/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2715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index.js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2980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form.js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3246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table.js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511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utils/ api.js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3776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css/ style.css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views/  index | form | table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SIAKAD — Sistem Informasi Akademik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Arsitektur MVC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Slide 4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554480" cy="1188720"/>
          </a:xfrm>
          <a:prstGeom prst="rect">
            <a:avLst/>
          </a:prstGeom>
          <a:solidFill>
            <a:srgbClr val="818CF8">
              <a:alpha val="25000"/>
            </a:srgb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1554480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Browser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(Client)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029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18CF8"/>
                </a:solidFill>
              </a:rPr>
              <a:t>HTML + JS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47088" y="1874520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1280160"/>
            <a:ext cx="1554480" cy="1188720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280160"/>
            <a:ext cx="155448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Routes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2029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</a:rPr>
              <a:t>mahasiswaRoutes.js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75888" y="1874520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31920" y="1280160"/>
            <a:ext cx="1554480" cy="1188720"/>
          </a:xfrm>
          <a:prstGeom prst="rect">
            <a:avLst/>
          </a:prstGeom>
          <a:solidFill>
            <a:srgbClr val="FB923C">
              <a:alpha val="25000"/>
            </a:srgb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0" y="1280160"/>
            <a:ext cx="1554480" cy="7315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029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B923C"/>
                </a:solidFill>
              </a:rPr>
              <a:t>mahasiswaController.js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04688" y="1874520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1280160"/>
            <a:ext cx="1554480" cy="1188720"/>
          </a:xfrm>
          <a:prstGeom prst="rect">
            <a:avLst/>
          </a:prstGeom>
          <a:solidFill>
            <a:srgbClr val="34D399">
              <a:alpha val="25000"/>
            </a:srgb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0" y="1280160"/>
            <a:ext cx="155448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2029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4D399"/>
                </a:solidFill>
              </a:rPr>
              <a:t>mahasiswaModel.js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33488" y="1874520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79792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89520" y="1280160"/>
            <a:ext cx="1554480" cy="1188720"/>
          </a:xfrm>
          <a:prstGeom prst="rect">
            <a:avLst/>
          </a:prstGeom>
          <a:solidFill>
            <a:srgbClr val="F472B6">
              <a:alpha val="25000"/>
            </a:srgb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89520" y="1280160"/>
            <a:ext cx="1554480" cy="7315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(JSON)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89520" y="2029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72B6"/>
                </a:solidFill>
              </a:rPr>
              <a:t>mahasiswa.json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847088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HTTP Request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675888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dispatch()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04688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readData()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333488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fs.read/write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57200" y="3108960"/>
            <a:ext cx="265176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3108960"/>
            <a:ext cx="54864" cy="14630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154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</a:rPr>
              <a:t>View (HTML)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4360" y="35204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 halaman HTML: index, form, table. Navbar dirender dinamis oleh component navbar.js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55848" y="3108960"/>
            <a:ext cx="265176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355848" y="3108960"/>
            <a:ext cx="54864" cy="14630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4" name="Text 42"/>
          <p:cNvSpPr/>
          <p:nvPr/>
        </p:nvSpPr>
        <p:spPr>
          <a:xfrm>
            <a:off x="3493008" y="3154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</a:rPr>
              <a:t>Controller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493008" y="35204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Handle semua logika request: validasi input, baca/tulis data, format response JSON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54496" y="3108960"/>
            <a:ext cx="265176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54496" y="3108960"/>
            <a:ext cx="54864" cy="14630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8" name="Text 46"/>
          <p:cNvSpPr/>
          <p:nvPr/>
        </p:nvSpPr>
        <p:spPr>
          <a:xfrm>
            <a:off x="6391656" y="3154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Model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391656" y="35204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Abstraksi akses data: getAll, getById, create, update, remove, nimExists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SIAKAD — Sistem Informasi Akademik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REST API Endpoints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Slide 5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Method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005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Endpoint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1005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Keterangan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solidFill>
            <a:srgbClr val="15203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536192"/>
            <a:ext cx="960120" cy="301752"/>
          </a:xfrm>
          <a:prstGeom prst="rect">
            <a:avLst/>
          </a:prstGeom>
          <a:solidFill>
            <a:srgbClr val="34D399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36192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</a:rPr>
              <a:t>GET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916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/api/mahasiswa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Ambil semua data mahasiswa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1975104"/>
            <a:ext cx="84124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048256"/>
            <a:ext cx="960120" cy="301752"/>
          </a:xfrm>
          <a:prstGeom prst="rect">
            <a:avLst/>
          </a:prstGeom>
          <a:solidFill>
            <a:srgbClr val="34D399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48256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</a:rPr>
              <a:t>GET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91640" y="19751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/api/mahasiswa/:id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0" y="19751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Ambil satu mahasiswa by 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487168"/>
            <a:ext cx="8412480" cy="457200"/>
          </a:xfrm>
          <a:prstGeom prst="rect">
            <a:avLst/>
          </a:prstGeom>
          <a:solidFill>
            <a:srgbClr val="152032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560320"/>
            <a:ext cx="960120" cy="301752"/>
          </a:xfrm>
          <a:prstGeom prst="rect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560320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</a:rPr>
              <a:t>POST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91640" y="24871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/api/mahasiswa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0" y="2487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Tambah mahasiswa baru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999232"/>
            <a:ext cx="84124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072384"/>
            <a:ext cx="960120" cy="301752"/>
          </a:xfrm>
          <a:prstGeom prst="rect">
            <a:avLst/>
          </a:prstGeom>
          <a:solidFill>
            <a:srgbClr val="FB923C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072384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923C"/>
                </a:solidFill>
              </a:rPr>
              <a:t>PUT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91640" y="29992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/api/mahasiswa/:id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3520" y="2999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Update data mahasiswa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511296"/>
            <a:ext cx="8412480" cy="457200"/>
          </a:xfrm>
          <a:prstGeom prst="rect">
            <a:avLst/>
          </a:prstGeom>
          <a:solidFill>
            <a:srgbClr val="152032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584448"/>
            <a:ext cx="960120" cy="301752"/>
          </a:xfrm>
          <a:prstGeom prst="rect">
            <a:avLst/>
          </a:prstGeom>
          <a:solidFill>
            <a:srgbClr val="F87171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58444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7171"/>
                </a:solidFill>
              </a:rPr>
              <a:t>DELETE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91640" y="35112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/api/mahasiswa/:id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03520" y="35112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Hapus data mahasiswa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4096512"/>
            <a:ext cx="960120" cy="301752"/>
          </a:xfrm>
          <a:prstGeom prst="rect">
            <a:avLst/>
          </a:prstGeom>
          <a:solidFill>
            <a:srgbClr val="34D399">
              <a:alpha val="2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096512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</a:rPr>
              <a:t>GET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69164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/api/mahasiswa/stats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0352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Statistik total, aktif, avg IPK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SIAKAD — Sistem Informasi Akademik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Fitur Frontend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Slide 6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3611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743200" cy="502920"/>
          </a:xfrm>
          <a:prstGeom prst="rect">
            <a:avLst/>
          </a:prstGeom>
          <a:solidFill>
            <a:srgbClr val="818CF8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51560"/>
            <a:ext cx="27432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Beranda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71941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91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Statistik total mahasiswa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30309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3500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Distribusi per prodi (bar chart)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88677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0837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5 pendaftaran terbaru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7045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6674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Navbar dinamis (component)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051560"/>
            <a:ext cx="2743200" cy="3611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051560"/>
            <a:ext cx="2743200" cy="502920"/>
          </a:xfrm>
          <a:prstGeom prst="rect">
            <a:avLst/>
          </a:prstGeom>
          <a:solidFill>
            <a:srgbClr val="FB923C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1051560"/>
            <a:ext cx="274320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Form Daftar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74720" y="1874520"/>
            <a:ext cx="182880" cy="18288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1691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Validasi jQuery Validate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2532888"/>
            <a:ext cx="182880" cy="18288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23500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Preview sebelum submit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3191256"/>
            <a:ext cx="182880" cy="18288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7" name="Text 25"/>
          <p:cNvSpPr/>
          <p:nvPr/>
        </p:nvSpPr>
        <p:spPr>
          <a:xfrm>
            <a:off x="3749040" y="300837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AJAX POST (tidak reload)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3849624"/>
            <a:ext cx="182880" cy="18288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366674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Reset form otomatis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1051560"/>
            <a:ext cx="2743200" cy="36118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051560"/>
            <a:ext cx="2743200" cy="502920"/>
          </a:xfrm>
          <a:prstGeom prst="rect">
            <a:avLst/>
          </a:prstGeom>
          <a:solidFill>
            <a:srgbClr val="34D399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1051560"/>
            <a:ext cx="274320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Rekap</a:t>
            </a:r>
            <a:r>
              <a:rPr lang="en-US" sz="1400" b="1" dirty="0">
                <a:solidFill>
                  <a:srgbClr val="FFFFFF"/>
                </a:solidFill>
              </a:rPr>
              <a:t> Data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1860804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1691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DataTable dengan search &amp; sort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2519172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23500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Edit via modal (AJAX PUT)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3177540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300837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Hapus dengan konfirmasi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3835908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366674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Refresh tanpa reload halaman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</a:rPr>
              <a:t> Semua request ke backend terpusat di  utils/api.js  —  Navbar dirender sekali dari  components/navbar.js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SIAKAD — Sistem Informasi Akademik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Alur Kerja &amp; Kode Utama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Slide 7 /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Alur: Tambah Mahasiswa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53896"/>
            <a:ext cx="365760" cy="36576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53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User isi form &amp; klik Simpan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1828800"/>
            <a:ext cx="0" cy="11887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75104"/>
            <a:ext cx="365760" cy="36576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jQuery Validate cek input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2350008"/>
            <a:ext cx="0" cy="11887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96312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4597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api.create() kirim POST AJAX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2871216"/>
            <a:ext cx="0" cy="11887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1752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9809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Controller validasi &amp; buat 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" y="3392424"/>
            <a:ext cx="0" cy="11887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538728"/>
            <a:ext cx="365760" cy="36576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5021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Model tulis ke JSON file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" y="3913632"/>
            <a:ext cx="0" cy="11887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59936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Response JSON → toastr sukses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10058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</a:rPr>
              <a:t>mahasiswaRoutes.js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0" y="1495044"/>
            <a:ext cx="4297680" cy="324612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1371600"/>
            <a:ext cx="429768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1691640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express = require('express');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63440" y="1906524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router  = express.Router();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63440" y="2121408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ctrl    = require('../controllers/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63440" y="2336292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mahasiswaController');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63440" y="2551176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63440" y="2766060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router.get('/',       ctrl.getAll);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63440" y="2980944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router.get('/stats',  ctrl.getStats);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63440" y="3195828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router.get('/:id',    ctrl.getById);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63440" y="3410712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router.post('/',      ctrl.create);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63440" y="3625596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router.put('/:id',    ctrl.update);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63440" y="3840480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router.delete('/:id', ctrl.remove);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63440" y="4055364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63440" y="4270248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router;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SIAKAD — Sistem Informasi Akademik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286000"/>
            <a:ext cx="3657600" cy="36576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-640080" y="2743200"/>
            <a:ext cx="2743200" cy="2743200"/>
          </a:xfrm>
          <a:prstGeom prst="ellipse">
            <a:avLst/>
          </a:prstGeom>
          <a:solidFill>
            <a:srgbClr val="818C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723" y="310896"/>
            <a:ext cx="2743200" cy="3474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-46893" y="3108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KESIMPULAN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65030" y="10332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Apa yang telah dibangun?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565030" y="1719072"/>
            <a:ext cx="292608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65030" y="1719072"/>
            <a:ext cx="54864" cy="10515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1729622" y="17647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 Arsitektur MVC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29622" y="215798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Kode terpisah rapi: Model, View, Controller + Routes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65430" y="1719072"/>
            <a:ext cx="292608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65430" y="1719072"/>
            <a:ext cx="54864" cy="10515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0022" y="17647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API RESTful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0022" y="215798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6 endpoint CRUD + statistik menggunakan Express Router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565030" y="2953512"/>
            <a:ext cx="292608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65030" y="2953512"/>
            <a:ext cx="54864" cy="10515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1729622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Modular JS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29622" y="339242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Navbar component, utils/api.js, dan pages terpisah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65430" y="2953512"/>
            <a:ext cx="292608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65430" y="2953512"/>
            <a:ext cx="54864" cy="10515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4930022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UI Interaktif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0022" y="339242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DataTable, AJAX, jQuery Validate, toastr notification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565030" y="4279392"/>
            <a:ext cx="4572000" cy="4572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65030" y="4279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 →  npm start  →  localhost:3000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SIAKAD — Sistem Informasi Akademik  ·  Tugas Praktikum Pemrograman Web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775</Words>
  <Application>Microsoft Office PowerPoint</Application>
  <PresentationFormat>On-screen Show (16:9)</PresentationFormat>
  <Paragraphs>180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Engravers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SIAKAD — Sistem Informasi Akademik</dc:title>
  <dc:subject>PptxGenJS Presentation</dc:subject>
  <dc:creator>PptxGenJS</dc:creator>
  <cp:lastModifiedBy>Jiaan ~</cp:lastModifiedBy>
  <cp:revision>2</cp:revision>
  <dcterms:created xsi:type="dcterms:W3CDTF">2026-04-05T19:22:38Z</dcterms:created>
  <dcterms:modified xsi:type="dcterms:W3CDTF">2026-04-05T21:02:57Z</dcterms:modified>
</cp:coreProperties>
</file>